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6" r:id="rId9"/>
    <p:sldId id="262" r:id="rId10"/>
    <p:sldId id="272" r:id="rId11"/>
    <p:sldId id="269" r:id="rId12"/>
    <p:sldId id="270" r:id="rId13"/>
    <p:sldId id="271" r:id="rId14"/>
    <p:sldId id="274" r:id="rId15"/>
    <p:sldId id="273" r:id="rId16"/>
    <p:sldId id="263" r:id="rId17"/>
  </p:sldIdLst>
  <p:sldSz cx="18288000" cy="10287000"/>
  <p:notesSz cx="6858000" cy="9144000"/>
  <p:embeddedFontLst>
    <p:embeddedFont>
      <p:font typeface="Times" panose="02020603050405020304" pitchFamily="18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Playfair Display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7A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9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06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0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5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4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9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4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9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2700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9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3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4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65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7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0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81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2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3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5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86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7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8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0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91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92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3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4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1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52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53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54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55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6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7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6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7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8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0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701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2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3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4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9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70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71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2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3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5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76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7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8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0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2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ryansingh7877/mercula-Ai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avLst/>
            <a:gdLst/>
            <a:ahLst/>
            <a:cxnLst/>
            <a:rect l="l" t="t" r="r" b="b"/>
            <a:pathLst>
              <a:path w="14127702" h="1101598" extrusionOk="0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953" t="-10072" r="-12923" b="-10072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87" name="Google Shape;87;p1"/>
          <p:cNvSpPr/>
          <p:nvPr/>
        </p:nvSpPr>
        <p:spPr>
          <a:xfrm>
            <a:off x="1591320" y="362859"/>
            <a:ext cx="610238" cy="832142"/>
          </a:xfrm>
          <a:custGeom>
            <a:avLst/>
            <a:gdLst/>
            <a:ahLst/>
            <a:cxnLst/>
            <a:rect l="l" t="t" r="r" b="b"/>
            <a:pathLst>
              <a:path w="610238" h="832142" extrusionOk="0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88" name="Google Shape;88;p1"/>
          <p:cNvSpPr/>
          <p:nvPr/>
        </p:nvSpPr>
        <p:spPr>
          <a:xfrm>
            <a:off x="4415789" y="372692"/>
            <a:ext cx="901250" cy="901250"/>
          </a:xfrm>
          <a:custGeom>
            <a:avLst/>
            <a:gdLst/>
            <a:ahLst/>
            <a:cxnLst/>
            <a:rect l="l" t="t" r="r" b="b"/>
            <a:pathLst>
              <a:path w="901250" h="901250" extrusionOk="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avLst/>
            <a:gdLst/>
            <a:ahLst/>
            <a:cxnLst/>
            <a:rect l="l" t="t" r="r" b="b"/>
            <a:pathLst>
              <a:path w="1172861" h="616220" extrusionOk="0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90" name="Google Shape;90;p1"/>
          <p:cNvSpPr/>
          <p:nvPr/>
        </p:nvSpPr>
        <p:spPr>
          <a:xfrm>
            <a:off x="5926638" y="538306"/>
            <a:ext cx="1721890" cy="626142"/>
          </a:xfrm>
          <a:custGeom>
            <a:avLst/>
            <a:gdLst/>
            <a:ahLst/>
            <a:cxnLst/>
            <a:rect l="l" t="t" r="r" b="b"/>
            <a:pathLst>
              <a:path w="1721890" h="626142" extrusionOk="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l="-72694" t="-170790" r="-73660" b="-156816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91" name="Google Shape;91;p1"/>
          <p:cNvSpPr/>
          <p:nvPr/>
        </p:nvSpPr>
        <p:spPr>
          <a:xfrm>
            <a:off x="8258128" y="488306"/>
            <a:ext cx="1474047" cy="670021"/>
          </a:xfrm>
          <a:custGeom>
            <a:avLst/>
            <a:gdLst/>
            <a:ahLst/>
            <a:cxnLst/>
            <a:rect l="l" t="t" r="r" b="b"/>
            <a:pathLst>
              <a:path w="1474047" h="670021" extrusionOk="0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l="-16057" t="-88646" r="-11397" b="-91756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avLst/>
            <a:gdLst/>
            <a:ahLst/>
            <a:cxnLst/>
            <a:rect l="l" t="t" r="r" b="b"/>
            <a:pathLst>
              <a:path w="2677383" h="585678" extrusionOk="0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5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2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</a:p>
        </p:txBody>
      </p:sp>
      <p:sp>
        <p:nvSpPr>
          <p:cNvPr id="1048594" name="Google Shape;94;p1"/>
          <p:cNvSpPr txBox="1"/>
          <p:nvPr/>
        </p:nvSpPr>
        <p:spPr>
          <a:xfrm>
            <a:off x="2149315" y="833903"/>
            <a:ext cx="1655535" cy="16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3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</a:p>
        </p:txBody>
      </p:sp>
      <p:sp>
        <p:nvSpPr>
          <p:cNvPr id="10485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6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</a:p>
        </p:txBody>
      </p:sp>
      <p:sp>
        <p:nvSpPr>
          <p:cNvPr id="10485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avLst/>
            <a:gdLst/>
            <a:ahLst/>
            <a:cxnLst/>
            <a:rect l="l" t="t" r="r" b="b"/>
            <a:pathLst>
              <a:path w="6143625" h="6417609" extrusionOk="0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23" name="Google Shape;97;p1"/>
          <p:cNvGrpSpPr/>
          <p:nvPr/>
        </p:nvGrpSpPr>
        <p:grpSpPr>
          <a:xfrm>
            <a:off x="1028700" y="1593199"/>
            <a:ext cx="10533832" cy="5852257"/>
            <a:chOff x="0" y="-314325"/>
            <a:chExt cx="12613857" cy="7803009"/>
          </a:xfrm>
        </p:grpSpPr>
        <p:sp>
          <p:nvSpPr>
            <p:cNvPr id="1048597" name="Google Shape;98;p1"/>
            <p:cNvSpPr txBox="1"/>
            <p:nvPr/>
          </p:nvSpPr>
          <p:spPr>
            <a:xfrm>
              <a:off x="382399" y="-314325"/>
              <a:ext cx="11904300" cy="78030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468" b="0" i="0" u="none" strike="noStrike" cap="none" dirty="0" err="1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 lang="en-US" sz="16468" b="0" i="0" u="none" strike="noStrike" cap="none" dirty="0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8598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avLst/>
              <a:gdLst/>
              <a:ahLst/>
              <a:cxnLst/>
              <a:rect l="l" t="t" r="r" b="b"/>
              <a:pathLst>
                <a:path w="8394485" h="1047467" extrusionOk="0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l="-1933" t="-18310" r="-1581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599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avLst/>
              <a:gdLst/>
              <a:ahLst/>
              <a:cxnLst/>
              <a:rect l="l" t="t" r="r" b="b"/>
              <a:pathLst>
                <a:path w="12613857" h="2463759" extrusionOk="0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600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avLst/>
              <a:gdLst/>
              <a:ahLst/>
              <a:cxnLst/>
              <a:rect l="l" t="t" r="r" b="b"/>
              <a:pathLst>
                <a:path w="575369" h="1239256" extrusionOk="0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601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avLst/>
              <a:gdLst/>
              <a:ahLst/>
              <a:cxnLst/>
              <a:rect l="l" t="t" r="r" b="b"/>
              <a:pathLst>
                <a:path w="73765" h="1239256" extrusionOk="0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l="-20000" r="-28000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602" name="Google Shape;103;p1"/>
            <p:cNvSpPr txBox="1"/>
            <p:nvPr/>
          </p:nvSpPr>
          <p:spPr>
            <a:xfrm>
              <a:off x="2436968" y="2920863"/>
              <a:ext cx="7221300" cy="853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20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</a:p>
          </p:txBody>
        </p:sp>
        <p:sp>
          <p:nvSpPr>
            <p:cNvPr id="1048603" name="Google Shape;104;p1"/>
            <p:cNvSpPr txBox="1"/>
            <p:nvPr/>
          </p:nvSpPr>
          <p:spPr>
            <a:xfrm>
              <a:off x="865835" y="4393321"/>
              <a:ext cx="2417100" cy="1158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38" b="1" i="0" u="none" strike="noStrike" cap="non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</a:p>
          </p:txBody>
        </p:sp>
        <p:sp>
          <p:nvSpPr>
            <p:cNvPr id="1048604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44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</a:p>
          </p:txBody>
        </p:sp>
        <p:sp>
          <p:nvSpPr>
            <p:cNvPr id="1048605" name="Google Shape;106;p1"/>
            <p:cNvSpPr txBox="1"/>
            <p:nvPr/>
          </p:nvSpPr>
          <p:spPr>
            <a:xfrm>
              <a:off x="1047112" y="5438889"/>
              <a:ext cx="1389900" cy="386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2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</a:p>
          </p:txBody>
        </p:sp>
        <p:sp>
          <p:nvSpPr>
            <p:cNvPr id="1048606" name="Google Shape;107;p1"/>
            <p:cNvSpPr txBox="1"/>
            <p:nvPr/>
          </p:nvSpPr>
          <p:spPr>
            <a:xfrm>
              <a:off x="4974964" y="4461918"/>
              <a:ext cx="2296200" cy="386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</a:p>
          </p:txBody>
        </p:sp>
        <p:sp>
          <p:nvSpPr>
            <p:cNvPr id="1048607" name="Google Shape;108;p1"/>
            <p:cNvSpPr txBox="1"/>
            <p:nvPr/>
          </p:nvSpPr>
          <p:spPr>
            <a:xfrm>
              <a:off x="10141600" y="4781941"/>
              <a:ext cx="1631700" cy="386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</a:p>
          </p:txBody>
        </p:sp>
        <p:sp>
          <p:nvSpPr>
            <p:cNvPr id="1048608" name="Google Shape;109;p1"/>
            <p:cNvSpPr txBox="1"/>
            <p:nvPr/>
          </p:nvSpPr>
          <p:spPr>
            <a:xfrm>
              <a:off x="9416458" y="5168176"/>
              <a:ext cx="2417100" cy="386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0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</a:p>
          </p:txBody>
        </p:sp>
      </p:grpSp>
      <p:grpSp>
        <p:nvGrpSpPr>
          <p:cNvPr id="24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048609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avLst/>
              <a:gdLst/>
              <a:ahLst/>
              <a:cxnLst/>
              <a:rect l="l" t="t" r="r" b="b"/>
              <a:pathLst>
                <a:path w="18732500" h="1447800" extrusionOk="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l="-542" t="-9649" r="-1084" b="-18422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610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avLst/>
              <a:gdLst/>
              <a:ahLst/>
              <a:cxnLst/>
              <a:rect l="l" t="t" r="r" b="b"/>
              <a:pathLst>
                <a:path w="2629904" h="575802" extrusionOk="0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611" name="Google Shape;113;p1"/>
            <p:cNvSpPr txBox="1"/>
            <p:nvPr/>
          </p:nvSpPr>
          <p:spPr>
            <a:xfrm>
              <a:off x="1372006" y="226089"/>
              <a:ext cx="1664614" cy="996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4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</a:p>
          </p:txBody>
        </p:sp>
        <p:sp>
          <p:nvSpPr>
            <p:cNvPr id="1048612" name="Google Shape;114;p1"/>
            <p:cNvSpPr txBox="1"/>
            <p:nvPr/>
          </p:nvSpPr>
          <p:spPr>
            <a:xfrm>
              <a:off x="7172147" y="252779"/>
              <a:ext cx="1742643" cy="9755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21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</a:p>
            <a:p>
              <a:pPr marL="0" marR="0" lvl="0" indent="0" algn="ctr" rtl="0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21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</a:p>
          </p:txBody>
        </p:sp>
        <p:sp>
          <p:nvSpPr>
            <p:cNvPr id="1048613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 i="0" u="none" strike="noStrike" cap="non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</a:p>
          </p:txBody>
        </p:sp>
        <p:sp>
          <p:nvSpPr>
            <p:cNvPr id="1048614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avLst/>
              <a:gdLst/>
              <a:ahLst/>
              <a:cxnLst/>
              <a:rect l="l" t="t" r="r" b="b"/>
              <a:pathLst>
                <a:path w="721119" h="983344" extrusionOk="0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615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4" b="0" i="0" u="none" strike="noStrike" cap="non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</a:p>
          </p:txBody>
        </p:sp>
        <p:sp>
          <p:nvSpPr>
            <p:cNvPr id="1048616" name="Google Shape;118;p1"/>
            <p:cNvSpPr txBox="1"/>
            <p:nvPr/>
          </p:nvSpPr>
          <p:spPr>
            <a:xfrm>
              <a:off x="15125170" y="762871"/>
              <a:ext cx="1956349" cy="1897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9" b="0" i="0" u="none" strike="noStrike" cap="non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</a:p>
          </p:txBody>
        </p:sp>
        <p:sp>
          <p:nvSpPr>
            <p:cNvPr id="1048617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73" b="0" i="1" u="none" strike="noStrike" cap="non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</a:p>
          </p:txBody>
        </p:sp>
      </p:grpSp>
      <p:sp>
        <p:nvSpPr>
          <p:cNvPr id="1048618" name="Google Shape;120;p1"/>
          <p:cNvSpPr txBox="1"/>
          <p:nvPr/>
        </p:nvSpPr>
        <p:spPr>
          <a:xfrm>
            <a:off x="1591320" y="6523502"/>
            <a:ext cx="10972800" cy="185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YOUR NAME: 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Anusha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 </a:t>
            </a:r>
            <a:r>
              <a:rPr lang="en-US" sz="2200" b="1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K, 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Abhishek Anil </a:t>
            </a:r>
            <a:r>
              <a:rPr lang="en-US" sz="2200" b="1" dirty="0"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K</a:t>
            </a:r>
            <a:r>
              <a:rPr lang="en-US" sz="2200" b="1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umar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, Aryan </a:t>
            </a:r>
            <a:r>
              <a:rPr lang="en-US" sz="2200" b="1" dirty="0"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S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ingh,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Adarsh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 </a:t>
            </a:r>
            <a:r>
              <a:rPr lang="en-US" sz="2200" b="1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B 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Acharya</a:t>
            </a:r>
          </a:p>
          <a:p>
            <a:pPr marL="0" marR="0" lvl="0" indent="0" algn="just" rtl="0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2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Playfair Display SemiBold"/>
              <a:cs typeface="Times New Roman" panose="02020603050405020304" pitchFamily="18" charset="0"/>
              <a:sym typeface="Playfair Display SemiBold"/>
            </a:endParaRPr>
          </a:p>
          <a:p>
            <a:pPr marL="0" marR="0" lvl="0" indent="0" algn="just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TEAM NAME:  </a:t>
            </a:r>
            <a:r>
              <a:rPr lang="en-US" sz="2200" b="1" dirty="0"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Stack Overflow</a:t>
            </a:r>
            <a:endParaRPr lang="en-US" sz="2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Playfair Display SemiBold"/>
              <a:cs typeface="Times New Roman" panose="02020603050405020304" pitchFamily="18" charset="0"/>
              <a:sym typeface="Playfair Display SemiBold"/>
            </a:endParaRPr>
          </a:p>
          <a:p>
            <a:pPr marL="0" marR="0" lvl="0" indent="0" algn="just" rtl="0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2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Playfair Display SemiBold"/>
              <a:cs typeface="Times New Roman" panose="02020603050405020304" pitchFamily="18" charset="0"/>
              <a:sym typeface="Playfair Display SemiBold"/>
            </a:endParaRPr>
          </a:p>
          <a:p>
            <a:pPr algn="just"/>
            <a:r>
              <a:rPr lang="en-US" sz="2200" b="1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Playfair Display SemiBold"/>
                <a:cs typeface="Times New Roman" panose="02020603050405020304" pitchFamily="18" charset="0"/>
                <a:sym typeface="Playfair Display SemiBold"/>
              </a:rPr>
              <a:t>TRACK NO:  T.01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FinTech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125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22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24" name="Rounded Rectangle 1048623"/>
          <p:cNvSpPr/>
          <p:nvPr/>
        </p:nvSpPr>
        <p:spPr>
          <a:xfrm>
            <a:off x="548640" y="1691640"/>
            <a:ext cx="17099280" cy="8138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19456" bIns="109728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2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small merchant may have ₹1–5 lakh of stock sitting in the shop.</a:t>
            </a:r>
          </a:p>
          <a:p>
            <a:pPr algn="l">
              <a:spcBef>
                <a:spcPts val="10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often do not know which products are silently becoming dead stock until it is too late.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keeps changing: local festivals, school and college seasons, weather, nearby events, competitor discounts.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 is not the same as profitable. Product A sells 100 units at ₹10 profit: ₹1,000. Product B sells 30 units at ₹100 profit: ₹3,000.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Example, a clothing shop with ₹5 lakh of stock. Jackets: ₹1L in, ₹10K a month out. Shoes: ₹80K in, ₹5K a month out.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Jackets are becoming dead stock. Shoes already are.</a:t>
            </a:r>
          </a:p>
        </p:txBody>
      </p:sp>
      <p:sp>
        <p:nvSpPr>
          <p:cNvPr id="6" name="Google Shape;127;p2"/>
          <p:cNvSpPr txBox="1"/>
          <p:nvPr/>
        </p:nvSpPr>
        <p:spPr>
          <a:xfrm>
            <a:off x="1283533" y="181023"/>
            <a:ext cx="768583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The Problem</a:t>
            </a:r>
            <a:endParaRPr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132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27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29" name="Rounded Rectangle 1048628"/>
          <p:cNvSpPr/>
          <p:nvPr/>
        </p:nvSpPr>
        <p:spPr>
          <a:xfrm>
            <a:off x="827267" y="1805941"/>
            <a:ext cx="17099280" cy="8138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19456" bIns="109728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2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Merchant Inventory Intelligence </a:t>
            </a:r>
            <a:r>
              <a:rPr sz="3200" b="1" dirty="0" smtClean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3200" b="1" dirty="0" smtClean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b="1" dirty="0" err="1" smtClean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Mercura</a:t>
            </a:r>
            <a:r>
              <a:rPr lang="en-US" sz="3200" b="1" dirty="0" smtClean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sz="3200" b="1" dirty="0" smtClean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200" dirty="0">
              <a:solidFill>
                <a:srgbClr val="0049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en-US" sz="280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Mercura</a:t>
            </a:r>
            <a:r>
              <a:rPr lang="en-US" sz="28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is an AI-assisted inventory intelligence platform that converts merchant sales, inventory, purchasing, pricing, supplier lead-time and seasonal information into simple recommendations</a:t>
            </a:r>
            <a:r>
              <a:rPr lang="en-US" sz="2800" dirty="0" smtClean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0" dirty="0" smtClean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000"/>
              </a:spcBef>
              <a:spcAft>
                <a:spcPts val="100"/>
              </a:spcAft>
            </a:pPr>
            <a:r>
              <a:rPr sz="2800" b="0" dirty="0" smtClean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tells the shopkeeper what to buy, what to stop buying, what to discount and what to sell together</a:t>
            </a:r>
            <a:r>
              <a:rPr sz="2800" b="0" dirty="0" smtClean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0" dirty="0" smtClean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 smtClean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what is likely to become dead stock, which product only looks popular, and where the next ₹10,000 should go.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 →  Predict  →  Explain  →  Recommend  →  Act  →  Monitor</a:t>
            </a:r>
            <a:r>
              <a:rPr sz="2800" b="1" dirty="0" smtClean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 smtClean="0">
              <a:solidFill>
                <a:srgbClr val="0049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800"/>
              </a:spcBef>
              <a:spcAft>
                <a:spcPts val="100"/>
              </a:spcAft>
            </a:pPr>
            <a:endParaRPr sz="2800" b="1" dirty="0">
              <a:solidFill>
                <a:srgbClr val="0049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Example. Jacket X: 47 units unsold for 63 days. ₹38,000 invested. Sales down 42%. Margin 18%. Risk: High.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T-shirt Y: 8 units left, selling 5 a day, margin 32%. Recommendation: reorder soon.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not just say what is happening. It says what is likely to happen, and what to do about it.</a:t>
            </a:r>
          </a:p>
        </p:txBody>
      </p:sp>
      <p:sp>
        <p:nvSpPr>
          <p:cNvPr id="8" name="Google Shape;127;p2"/>
          <p:cNvSpPr txBox="1"/>
          <p:nvPr/>
        </p:nvSpPr>
        <p:spPr>
          <a:xfrm>
            <a:off x="1474119" y="293573"/>
            <a:ext cx="768583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Solution</a:t>
            </a:r>
            <a:endParaRPr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139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32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34" name="Rounded Rectangle 1048633"/>
          <p:cNvSpPr/>
          <p:nvPr/>
        </p:nvSpPr>
        <p:spPr>
          <a:xfrm>
            <a:off x="548640" y="1691640"/>
            <a:ext cx="17099280" cy="8138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19456" bIns="109728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2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five features, in priority order</a:t>
            </a:r>
          </a:p>
          <a:p>
            <a:pPr algn="l">
              <a:spcBef>
                <a:spcPts val="10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Dead Stock Risk Prediction. Predicts the problem before it becomes serious.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Smart Reorder System. Stops more money going into products that are not performing.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AI Action Recommendation. Does not stop at “this is dead stock”. Says what to do next.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Profit + Demand Analysis. Separates popular products from profitable ones.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Cash Recovery Calculator. Shows how much money is trapped and how much could come back.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planned: festival alerts, supplier reorder with merchant approval, digital ledger, cash-flow tracking.</a:t>
            </a:r>
          </a:p>
        </p:txBody>
      </p:sp>
      <p:sp>
        <p:nvSpPr>
          <p:cNvPr id="7" name="Google Shape;127;p2"/>
          <p:cNvSpPr txBox="1"/>
          <p:nvPr/>
        </p:nvSpPr>
        <p:spPr>
          <a:xfrm>
            <a:off x="1474119" y="293573"/>
            <a:ext cx="768583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Core Features</a:t>
            </a:r>
            <a:endParaRPr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45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3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38" name="Rounded Rectangle 1048637"/>
          <p:cNvSpPr/>
          <p:nvPr/>
        </p:nvSpPr>
        <p:spPr>
          <a:xfrm>
            <a:off x="594360" y="1645920"/>
            <a:ext cx="17099280" cy="8138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19456" bIns="109728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2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is not mandatory. The system learns as the shop is used.</a:t>
            </a:r>
          </a:p>
          <a:p>
            <a:pPr algn="l">
              <a:spcBef>
                <a:spcPts val="10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1. No history. “I have 50 packets.” We use stock, prices, supplier lead time and the next festival, and say: limited data.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2. Simple questions. Product, current stock, typical sales (1–5, 5–10, 10–20 a day, or don’t know), and when sales rise.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3. It learns. Day 1: limited. Day 10: real sales velocity. Day 60: a much better prediction.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to enter: one-tap quick sale. Voice: “I sold 5 packets of biscuits”, then yes or edit. Invoice photo with OCR, later.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8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pretend the AI knows something it does not.</a:t>
            </a:r>
          </a:p>
        </p:txBody>
      </p:sp>
      <p:sp>
        <p:nvSpPr>
          <p:cNvPr id="7" name="Google Shape;127;p2"/>
          <p:cNvSpPr txBox="1"/>
          <p:nvPr/>
        </p:nvSpPr>
        <p:spPr>
          <a:xfrm>
            <a:off x="1458163" y="213563"/>
            <a:ext cx="768583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Adaptive AI model</a:t>
            </a:r>
            <a:endParaRPr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125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22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24" name="Rounded Rectangle 1048623"/>
          <p:cNvSpPr/>
          <p:nvPr/>
        </p:nvSpPr>
        <p:spPr>
          <a:xfrm>
            <a:off x="502920" y="1691640"/>
            <a:ext cx="8366760" cy="8138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19456" bIns="109728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2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each piece is for</a:t>
            </a:r>
          </a:p>
          <a:p>
            <a:pPr algn="l">
              <a:spcBef>
                <a:spcPts val="12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Frontend. React.js + Tailwind CSS.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Backend. Python + </a:t>
            </a:r>
            <a:r>
              <a:rPr sz="2600" b="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Database. PostgreSQL.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analysis. Pandas + NumPy.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learning. Scikit-learn.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Charts. Recharts. Version control. Git + GitHub</a:t>
            </a:r>
            <a:r>
              <a:rPr sz="2600" b="0" dirty="0">
                <a:solidFill>
                  <a:srgbClr val="1C1C1C"/>
                </a:solidFill>
                <a:latin typeface="Calibri"/>
              </a:rPr>
              <a:t>.</a:t>
            </a:r>
          </a:p>
        </p:txBody>
      </p:sp>
      <p:sp>
        <p:nvSpPr>
          <p:cNvPr id="1048625" name="Rounded Rectangle 1048624"/>
          <p:cNvSpPr/>
          <p:nvPr/>
        </p:nvSpPr>
        <p:spPr>
          <a:xfrm>
            <a:off x="9144000" y="1691640"/>
            <a:ext cx="8412480" cy="8138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19456" bIns="109728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2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models, in the backend</a:t>
            </a:r>
          </a:p>
          <a:p>
            <a:pPr algn="l">
              <a:spcBef>
                <a:spcPts val="12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Sales Trend Analysis.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Dead-Stock Risk Model.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Demand Forecasting Model.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Inventory Classification.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Recommendation Engine.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output shows on the dashboard: risk, reason, action.</a:t>
            </a:r>
          </a:p>
        </p:txBody>
      </p:sp>
      <p:sp>
        <p:nvSpPr>
          <p:cNvPr id="8" name="Google Shape;127;p2"/>
          <p:cNvSpPr txBox="1"/>
          <p:nvPr/>
        </p:nvSpPr>
        <p:spPr>
          <a:xfrm>
            <a:off x="1183843" y="236423"/>
            <a:ext cx="768583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Tech Stack</a:t>
            </a:r>
            <a:endParaRPr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125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22" name="Google Shape;126;p2"/>
          <p:cNvSpPr/>
          <p:nvPr/>
        </p:nvSpPr>
        <p:spPr>
          <a:xfrm>
            <a:off x="3113484" y="-4128654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1" name="Architecture frame"/>
          <p:cNvSpPr/>
          <p:nvPr/>
        </p:nvSpPr>
        <p:spPr>
          <a:xfrm>
            <a:off x="1676222" y="1555920"/>
            <a:ext cx="14935555" cy="848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Google Shape;127;p2"/>
          <p:cNvSpPr txBox="1"/>
          <p:nvPr/>
        </p:nvSpPr>
        <p:spPr>
          <a:xfrm>
            <a:off x="1183843" y="236423"/>
            <a:ext cx="768583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System </a:t>
            </a:r>
            <a:r>
              <a:rPr lang="en-US" sz="6600" dirty="0" err="1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Architecure</a:t>
            </a:r>
            <a:endParaRPr sz="1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034" y="1702434"/>
            <a:ext cx="10915963" cy="81869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125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22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1" name="Step card 1"/>
          <p:cNvSpPr/>
          <p:nvPr/>
        </p:nvSpPr>
        <p:spPr>
          <a:xfrm>
            <a:off x="442580" y="2093040"/>
            <a:ext cx="2578933" cy="5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5DE0E6"/>
            </a:solidFill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02" name="Step badge 1"/>
          <p:cNvSpPr/>
          <p:nvPr/>
        </p:nvSpPr>
        <p:spPr>
          <a:xfrm>
            <a:off x="1416666" y="2433120"/>
            <a:ext cx="660000" cy="660000"/>
          </a:xfrm>
          <a:prstGeom prst="ellipse">
            <a:avLst/>
          </a:prstGeom>
          <a:solidFill>
            <a:srgbClr val="0A7A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03" name="Step title 1"/>
          <p:cNvSpPr/>
          <p:nvPr/>
        </p:nvSpPr>
        <p:spPr>
          <a:xfrm>
            <a:off x="517200" y="3223120"/>
            <a:ext cx="2458933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5004" name="Step divider 1"/>
          <p:cNvSpPr/>
          <p:nvPr/>
        </p:nvSpPr>
        <p:spPr>
          <a:xfrm>
            <a:off x="1326666" y="3953120"/>
            <a:ext cx="840000" cy="28000"/>
          </a:xfrm>
          <a:prstGeom prst="rect">
            <a:avLst/>
          </a:prstGeom>
          <a:solidFill>
            <a:srgbClr val="5DE0E6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05" name="Step text 1"/>
          <p:cNvSpPr/>
          <p:nvPr/>
        </p:nvSpPr>
        <p:spPr>
          <a:xfrm>
            <a:off x="607200" y="4153120"/>
            <a:ext cx="2278933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</a:pPr>
            <a:r>
              <a:rPr lang="en-US" sz="22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sale, voice or simple product entry. No history needed.</a:t>
            </a:r>
          </a:p>
        </p:txBody>
      </p:sp>
      <p:sp>
        <p:nvSpPr>
          <p:cNvPr id="5006" name="Step example 1"/>
          <p:cNvSpPr/>
          <p:nvPr/>
        </p:nvSpPr>
        <p:spPr>
          <a:xfrm>
            <a:off x="627200" y="6103120"/>
            <a:ext cx="2238933" cy="950000"/>
          </a:xfrm>
          <a:prstGeom prst="roundRect">
            <a:avLst>
              <a:gd name="adj" fmla="val 22000"/>
            </a:avLst>
          </a:prstGeom>
          <a:solidFill>
            <a:srgbClr val="E3F7F8"/>
          </a:solidFill>
          <a:ln w="15875">
            <a:solidFill>
              <a:srgbClr val="5DE0E6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spcBef>
                <a:spcPts val="0"/>
              </a:spcBef>
            </a:pPr>
            <a:r>
              <a:rPr lang="en-US" sz="2200" b="1" dirty="0">
                <a:solidFill>
                  <a:srgbClr val="004944"/>
                </a:solidFill>
                <a:latin typeface="Calibri"/>
              </a:rPr>
              <a:t>“</a:t>
            </a:r>
            <a:r>
              <a:rPr lang="en-US" sz="20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Sold 5 biscuits</a:t>
            </a:r>
            <a:r>
              <a:rPr lang="en-US" sz="2200" b="1" dirty="0">
                <a:solidFill>
                  <a:srgbClr val="004944"/>
                </a:solidFill>
                <a:latin typeface="Calibri"/>
              </a:rPr>
              <a:t>.”</a:t>
            </a:r>
          </a:p>
        </p:txBody>
      </p:sp>
      <p:sp>
        <p:nvSpPr>
          <p:cNvPr id="5007" name="Flow arrow 1"/>
          <p:cNvSpPr/>
          <p:nvPr/>
        </p:nvSpPr>
        <p:spPr>
          <a:xfrm>
            <a:off x="3106133" y="4518120"/>
            <a:ext cx="240000" cy="420000"/>
          </a:xfrm>
          <a:prstGeom prst="chevron">
            <a:avLst/>
          </a:prstGeom>
          <a:solidFill>
            <a:srgbClr val="0A7A80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08" name="Step card 2"/>
          <p:cNvSpPr/>
          <p:nvPr/>
        </p:nvSpPr>
        <p:spPr>
          <a:xfrm>
            <a:off x="3416133" y="2103120"/>
            <a:ext cx="2578933" cy="5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5DE0E6"/>
            </a:solidFill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09" name="Step badge 2"/>
          <p:cNvSpPr/>
          <p:nvPr/>
        </p:nvSpPr>
        <p:spPr>
          <a:xfrm>
            <a:off x="4375599" y="2433120"/>
            <a:ext cx="660000" cy="660000"/>
          </a:xfrm>
          <a:prstGeom prst="ellipse">
            <a:avLst/>
          </a:prstGeom>
          <a:solidFill>
            <a:srgbClr val="0A7A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010" name="Step title 2"/>
          <p:cNvSpPr/>
          <p:nvPr/>
        </p:nvSpPr>
        <p:spPr>
          <a:xfrm>
            <a:off x="3476133" y="3223120"/>
            <a:ext cx="2458933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5011" name="Step divider 2"/>
          <p:cNvSpPr/>
          <p:nvPr/>
        </p:nvSpPr>
        <p:spPr>
          <a:xfrm>
            <a:off x="4285599" y="3953120"/>
            <a:ext cx="840000" cy="28000"/>
          </a:xfrm>
          <a:prstGeom prst="rect">
            <a:avLst/>
          </a:prstGeom>
          <a:solidFill>
            <a:srgbClr val="5DE0E6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12" name="Step text 2"/>
          <p:cNvSpPr/>
          <p:nvPr/>
        </p:nvSpPr>
        <p:spPr>
          <a:xfrm>
            <a:off x="3566133" y="4153120"/>
            <a:ext cx="2278933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</a:pPr>
            <a:r>
              <a:rPr lang="en-US" sz="2200" b="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2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cleans, checks and stores every entry.</a:t>
            </a:r>
          </a:p>
        </p:txBody>
      </p:sp>
      <p:sp>
        <p:nvSpPr>
          <p:cNvPr id="5013" name="Step example 2"/>
          <p:cNvSpPr/>
          <p:nvPr/>
        </p:nvSpPr>
        <p:spPr>
          <a:xfrm>
            <a:off x="3586133" y="6103120"/>
            <a:ext cx="2238933" cy="950000"/>
          </a:xfrm>
          <a:prstGeom prst="roundRect">
            <a:avLst>
              <a:gd name="adj" fmla="val 22000"/>
            </a:avLst>
          </a:prstGeom>
          <a:solidFill>
            <a:srgbClr val="E3F7F8"/>
          </a:solidFill>
          <a:ln w="15875">
            <a:solidFill>
              <a:srgbClr val="5DE0E6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spcBef>
                <a:spcPts val="0"/>
              </a:spcBef>
            </a:pPr>
            <a:r>
              <a:rPr lang="en-US" sz="20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data</a:t>
            </a:r>
          </a:p>
        </p:txBody>
      </p:sp>
      <p:sp>
        <p:nvSpPr>
          <p:cNvPr id="5014" name="Flow arrow 2"/>
          <p:cNvSpPr/>
          <p:nvPr/>
        </p:nvSpPr>
        <p:spPr>
          <a:xfrm>
            <a:off x="6065066" y="4518120"/>
            <a:ext cx="240000" cy="420000"/>
          </a:xfrm>
          <a:prstGeom prst="chevron">
            <a:avLst/>
          </a:prstGeom>
          <a:solidFill>
            <a:srgbClr val="0A7A80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15" name="Step card 3"/>
          <p:cNvSpPr/>
          <p:nvPr/>
        </p:nvSpPr>
        <p:spPr>
          <a:xfrm>
            <a:off x="6375066" y="2103120"/>
            <a:ext cx="2578933" cy="5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5DE0E6"/>
            </a:solidFill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16" name="Step badge 3"/>
          <p:cNvSpPr/>
          <p:nvPr/>
        </p:nvSpPr>
        <p:spPr>
          <a:xfrm>
            <a:off x="7334532" y="2433120"/>
            <a:ext cx="660000" cy="660000"/>
          </a:xfrm>
          <a:prstGeom prst="ellipse">
            <a:avLst/>
          </a:prstGeom>
          <a:solidFill>
            <a:srgbClr val="0A7A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17" name="Step title 3"/>
          <p:cNvSpPr/>
          <p:nvPr/>
        </p:nvSpPr>
        <p:spPr>
          <a:xfrm>
            <a:off x="6435066" y="3223120"/>
            <a:ext cx="2458933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5018" name="Step divider 3"/>
          <p:cNvSpPr/>
          <p:nvPr/>
        </p:nvSpPr>
        <p:spPr>
          <a:xfrm>
            <a:off x="7244532" y="3953120"/>
            <a:ext cx="840000" cy="28000"/>
          </a:xfrm>
          <a:prstGeom prst="rect">
            <a:avLst/>
          </a:prstGeom>
          <a:solidFill>
            <a:srgbClr val="5DE0E6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19" name="Step text 3"/>
          <p:cNvSpPr/>
          <p:nvPr/>
        </p:nvSpPr>
        <p:spPr>
          <a:xfrm>
            <a:off x="6525066" y="4153120"/>
            <a:ext cx="2278933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</a:pPr>
            <a:r>
              <a:rPr lang="en-US" sz="22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velocity, inventory age, margin and season</a:t>
            </a:r>
            <a:r>
              <a:rPr lang="en-US" sz="2200" b="0" dirty="0">
                <a:solidFill>
                  <a:srgbClr val="1C1C1C"/>
                </a:solidFill>
                <a:latin typeface="Calibri"/>
              </a:rPr>
              <a:t>.</a:t>
            </a:r>
          </a:p>
        </p:txBody>
      </p:sp>
      <p:sp>
        <p:nvSpPr>
          <p:cNvPr id="5020" name="Step example 3"/>
          <p:cNvSpPr/>
          <p:nvPr/>
        </p:nvSpPr>
        <p:spPr>
          <a:xfrm>
            <a:off x="6545066" y="6103120"/>
            <a:ext cx="2238933" cy="950000"/>
          </a:xfrm>
          <a:prstGeom prst="roundRect">
            <a:avLst>
              <a:gd name="adj" fmla="val 22000"/>
            </a:avLst>
          </a:prstGeom>
          <a:solidFill>
            <a:srgbClr val="E3F7F8"/>
          </a:solidFill>
          <a:ln w="15875">
            <a:solidFill>
              <a:srgbClr val="5DE0E6"/>
            </a:solidFill>
          </a:ln>
        </p:spPr>
        <p:txBody>
          <a:bodyPr wrap="square" lIns="60000" tIns="30000" rIns="60000" bIns="30000" rtlCol="0" anchor="ctr"/>
          <a:lstStyle/>
          <a:p>
            <a:pPr algn="ctr"/>
            <a:r>
              <a:rPr lang="en-US" sz="20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 days unsold</a:t>
            </a:r>
          </a:p>
        </p:txBody>
      </p:sp>
      <p:sp>
        <p:nvSpPr>
          <p:cNvPr id="5021" name="Flow arrow 3"/>
          <p:cNvSpPr/>
          <p:nvPr/>
        </p:nvSpPr>
        <p:spPr>
          <a:xfrm>
            <a:off x="9023999" y="4518120"/>
            <a:ext cx="240000" cy="420000"/>
          </a:xfrm>
          <a:prstGeom prst="chevron">
            <a:avLst/>
          </a:prstGeom>
          <a:solidFill>
            <a:srgbClr val="0A7A80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22" name="Step card 4"/>
          <p:cNvSpPr/>
          <p:nvPr/>
        </p:nvSpPr>
        <p:spPr>
          <a:xfrm>
            <a:off x="9333999" y="2103120"/>
            <a:ext cx="2578933" cy="5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5DE0E6"/>
            </a:solidFill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23" name="Step badge 4"/>
          <p:cNvSpPr/>
          <p:nvPr/>
        </p:nvSpPr>
        <p:spPr>
          <a:xfrm>
            <a:off x="10293465" y="2433120"/>
            <a:ext cx="660000" cy="660000"/>
          </a:xfrm>
          <a:prstGeom prst="ellipse">
            <a:avLst/>
          </a:prstGeom>
          <a:solidFill>
            <a:srgbClr val="0A7A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24" name="Step title 4"/>
          <p:cNvSpPr/>
          <p:nvPr/>
        </p:nvSpPr>
        <p:spPr>
          <a:xfrm>
            <a:off x="9393999" y="3223120"/>
            <a:ext cx="2458933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risk</a:t>
            </a:r>
          </a:p>
        </p:txBody>
      </p:sp>
      <p:sp>
        <p:nvSpPr>
          <p:cNvPr id="5025" name="Step divider 4"/>
          <p:cNvSpPr/>
          <p:nvPr/>
        </p:nvSpPr>
        <p:spPr>
          <a:xfrm>
            <a:off x="10203465" y="3953120"/>
            <a:ext cx="840000" cy="28000"/>
          </a:xfrm>
          <a:prstGeom prst="rect">
            <a:avLst/>
          </a:prstGeom>
          <a:solidFill>
            <a:srgbClr val="5DE0E6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26" name="Step text 4"/>
          <p:cNvSpPr/>
          <p:nvPr/>
        </p:nvSpPr>
        <p:spPr>
          <a:xfrm>
            <a:off x="9483999" y="4153120"/>
            <a:ext cx="2278933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</a:pPr>
            <a:r>
              <a:rPr lang="en-US" sz="22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score the stock risk and explain why.</a:t>
            </a:r>
          </a:p>
        </p:txBody>
      </p:sp>
      <p:sp>
        <p:nvSpPr>
          <p:cNvPr id="5027" name="Step example 4"/>
          <p:cNvSpPr/>
          <p:nvPr/>
        </p:nvSpPr>
        <p:spPr>
          <a:xfrm>
            <a:off x="9483999" y="6073120"/>
            <a:ext cx="2238933" cy="950000"/>
          </a:xfrm>
          <a:prstGeom prst="roundRect">
            <a:avLst>
              <a:gd name="adj" fmla="val 22000"/>
            </a:avLst>
          </a:prstGeom>
          <a:solidFill>
            <a:srgbClr val="E3F7F8"/>
          </a:solidFill>
          <a:ln w="15875">
            <a:solidFill>
              <a:srgbClr val="5DE0E6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spcBef>
                <a:spcPts val="0"/>
              </a:spcBef>
            </a:pPr>
            <a:r>
              <a:rPr lang="en-US" sz="20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Jacket X: High</a:t>
            </a:r>
          </a:p>
        </p:txBody>
      </p:sp>
      <p:sp>
        <p:nvSpPr>
          <p:cNvPr id="5028" name="Flow arrow 4"/>
          <p:cNvSpPr/>
          <p:nvPr/>
        </p:nvSpPr>
        <p:spPr>
          <a:xfrm>
            <a:off x="11982932" y="4518120"/>
            <a:ext cx="240000" cy="420000"/>
          </a:xfrm>
          <a:prstGeom prst="chevron">
            <a:avLst/>
          </a:prstGeom>
          <a:solidFill>
            <a:srgbClr val="0A7A80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29" name="Step card 5"/>
          <p:cNvSpPr/>
          <p:nvPr/>
        </p:nvSpPr>
        <p:spPr>
          <a:xfrm>
            <a:off x="12292932" y="2103120"/>
            <a:ext cx="2578933" cy="5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5DE0E6"/>
            </a:solidFill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30" name="Step badge 5"/>
          <p:cNvSpPr/>
          <p:nvPr/>
        </p:nvSpPr>
        <p:spPr>
          <a:xfrm>
            <a:off x="13252398" y="2433120"/>
            <a:ext cx="660000" cy="660000"/>
          </a:xfrm>
          <a:prstGeom prst="ellipse">
            <a:avLst/>
          </a:prstGeom>
          <a:solidFill>
            <a:srgbClr val="0A7A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31" name="Step title 5"/>
          <p:cNvSpPr/>
          <p:nvPr/>
        </p:nvSpPr>
        <p:spPr>
          <a:xfrm>
            <a:off x="12352932" y="3223120"/>
            <a:ext cx="2458933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Advice</a:t>
            </a:r>
          </a:p>
        </p:txBody>
      </p:sp>
      <p:sp>
        <p:nvSpPr>
          <p:cNvPr id="5032" name="Step divider 5"/>
          <p:cNvSpPr/>
          <p:nvPr/>
        </p:nvSpPr>
        <p:spPr>
          <a:xfrm>
            <a:off x="13162398" y="3953120"/>
            <a:ext cx="840000" cy="28000"/>
          </a:xfrm>
          <a:prstGeom prst="rect">
            <a:avLst/>
          </a:prstGeom>
          <a:solidFill>
            <a:srgbClr val="5DE0E6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33" name="Step text 5"/>
          <p:cNvSpPr/>
          <p:nvPr/>
        </p:nvSpPr>
        <p:spPr>
          <a:xfrm>
            <a:off x="12442932" y="4153120"/>
            <a:ext cx="2278933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</a:pPr>
            <a:r>
              <a:rPr lang="en-US" sz="22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engine suggests the next best action</a:t>
            </a:r>
            <a:r>
              <a:rPr lang="en-US" sz="2200" b="0" dirty="0">
                <a:solidFill>
                  <a:srgbClr val="1C1C1C"/>
                </a:solidFill>
                <a:latin typeface="Calibri"/>
              </a:rPr>
              <a:t>.</a:t>
            </a:r>
          </a:p>
        </p:txBody>
      </p:sp>
      <p:sp>
        <p:nvSpPr>
          <p:cNvPr id="5034" name="Step example 5"/>
          <p:cNvSpPr/>
          <p:nvPr/>
        </p:nvSpPr>
        <p:spPr>
          <a:xfrm>
            <a:off x="12442932" y="6103120"/>
            <a:ext cx="2238933" cy="950000"/>
          </a:xfrm>
          <a:prstGeom prst="roundRect">
            <a:avLst>
              <a:gd name="adj" fmla="val 22000"/>
            </a:avLst>
          </a:prstGeom>
          <a:solidFill>
            <a:srgbClr val="E3F7F8"/>
          </a:solidFill>
          <a:ln w="15875">
            <a:solidFill>
              <a:srgbClr val="5DE0E6"/>
            </a:solidFill>
          </a:ln>
        </p:spPr>
        <p:txBody>
          <a:bodyPr wrap="square" lIns="60000" tIns="30000" rIns="60000" bIns="30000" rtlCol="0" anchor="ctr"/>
          <a:lstStyle/>
          <a:p>
            <a:pPr algn="ctr"/>
            <a:r>
              <a:rPr lang="en-US" sz="20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 it</a:t>
            </a:r>
          </a:p>
        </p:txBody>
      </p:sp>
      <p:sp>
        <p:nvSpPr>
          <p:cNvPr id="5035" name="Flow arrow 5"/>
          <p:cNvSpPr/>
          <p:nvPr/>
        </p:nvSpPr>
        <p:spPr>
          <a:xfrm>
            <a:off x="14941865" y="4518120"/>
            <a:ext cx="240000" cy="420000"/>
          </a:xfrm>
          <a:prstGeom prst="chevron">
            <a:avLst/>
          </a:prstGeom>
          <a:solidFill>
            <a:srgbClr val="0A7A80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36" name="Step card 6"/>
          <p:cNvSpPr/>
          <p:nvPr/>
        </p:nvSpPr>
        <p:spPr>
          <a:xfrm>
            <a:off x="15251865" y="2103120"/>
            <a:ext cx="2578933" cy="5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5DE0E6"/>
            </a:solidFill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37" name="Step badge 6"/>
          <p:cNvSpPr/>
          <p:nvPr/>
        </p:nvSpPr>
        <p:spPr>
          <a:xfrm>
            <a:off x="16211331" y="2433120"/>
            <a:ext cx="660000" cy="660000"/>
          </a:xfrm>
          <a:prstGeom prst="ellipse">
            <a:avLst/>
          </a:prstGeom>
          <a:solidFill>
            <a:srgbClr val="0A7A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38" name="Step title 6"/>
          <p:cNvSpPr/>
          <p:nvPr/>
        </p:nvSpPr>
        <p:spPr>
          <a:xfrm>
            <a:off x="15311865" y="3223120"/>
            <a:ext cx="2458933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5039" name="Step divider 6"/>
          <p:cNvSpPr/>
          <p:nvPr/>
        </p:nvSpPr>
        <p:spPr>
          <a:xfrm>
            <a:off x="16121331" y="3953120"/>
            <a:ext cx="840000" cy="28000"/>
          </a:xfrm>
          <a:prstGeom prst="rect">
            <a:avLst/>
          </a:prstGeom>
          <a:solidFill>
            <a:srgbClr val="5DE0E6"/>
          </a:solidFill>
          <a:ln>
            <a:noFill/>
          </a:ln>
        </p:spPr>
        <p:txBody>
          <a:bodyPr wrap="square" lIns="91440" tIns="45720" rIns="91440" bIns="45720" rtlCol="0" anchor="t"/>
          <a:lstStyle/>
          <a:p>
            <a:endParaRPr lang="en-US"/>
          </a:p>
        </p:txBody>
      </p:sp>
      <p:sp>
        <p:nvSpPr>
          <p:cNvPr id="5040" name="Step text 6"/>
          <p:cNvSpPr/>
          <p:nvPr/>
        </p:nvSpPr>
        <p:spPr>
          <a:xfrm>
            <a:off x="15401865" y="4153120"/>
            <a:ext cx="2278933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</a:pPr>
            <a:r>
              <a:rPr lang="en-US" sz="22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Risk, reason and report. The merchant acts.</a:t>
            </a:r>
          </a:p>
        </p:txBody>
      </p:sp>
      <p:sp>
        <p:nvSpPr>
          <p:cNvPr id="5041" name="Step example 6"/>
          <p:cNvSpPr/>
          <p:nvPr/>
        </p:nvSpPr>
        <p:spPr>
          <a:xfrm>
            <a:off x="15401865" y="6103120"/>
            <a:ext cx="2238933" cy="950000"/>
          </a:xfrm>
          <a:prstGeom prst="roundRect">
            <a:avLst>
              <a:gd name="adj" fmla="val 22000"/>
            </a:avLst>
          </a:prstGeom>
          <a:solidFill>
            <a:srgbClr val="E3F7F8"/>
          </a:solidFill>
          <a:ln w="15875">
            <a:solidFill>
              <a:srgbClr val="5DE0E6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spcBef>
                <a:spcPts val="0"/>
              </a:spcBef>
            </a:pPr>
            <a:r>
              <a:rPr lang="en-US" sz="2200" b="1" dirty="0">
                <a:solidFill>
                  <a:srgbClr val="004944"/>
                </a:solidFill>
                <a:latin typeface="Calibri"/>
              </a:rPr>
              <a:t>₹</a:t>
            </a:r>
            <a:r>
              <a:rPr lang="en-US" sz="20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42,000 at risk</a:t>
            </a:r>
          </a:p>
        </p:txBody>
      </p:sp>
      <p:sp>
        <p:nvSpPr>
          <p:cNvPr id="5042" name="Loop band"/>
          <p:cNvSpPr/>
          <p:nvPr/>
        </p:nvSpPr>
        <p:spPr>
          <a:xfrm>
            <a:off x="457200" y="7683120"/>
            <a:ext cx="17373600" cy="145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5DE0E6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2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LOOP CLOSES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Merchant approves the order   →   stock updates   →   new sales arrive   →   AI analyses again</a:t>
            </a:r>
          </a:p>
        </p:txBody>
      </p:sp>
      <p:sp>
        <p:nvSpPr>
          <p:cNvPr id="47" name="Google Shape;127;p2"/>
          <p:cNvSpPr txBox="1"/>
          <p:nvPr/>
        </p:nvSpPr>
        <p:spPr>
          <a:xfrm>
            <a:off x="1183843" y="236423"/>
            <a:ext cx="768583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Data Flow</a:t>
            </a:r>
            <a:endParaRPr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5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1" name="Google Shape;153;p6"/>
          <p:cNvSpPr/>
          <p:nvPr/>
        </p:nvSpPr>
        <p:spPr>
          <a:xfrm>
            <a:off x="1646222" y="-3334175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1" name="DFD frame"/>
          <p:cNvSpPr/>
          <p:nvPr/>
        </p:nvSpPr>
        <p:spPr>
          <a:xfrm>
            <a:off x="1646222" y="1525920"/>
            <a:ext cx="14995555" cy="854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127;p2"/>
          <p:cNvSpPr txBox="1"/>
          <p:nvPr/>
        </p:nvSpPr>
        <p:spPr>
          <a:xfrm>
            <a:off x="1336243" y="55953"/>
            <a:ext cx="768583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Data flow diagram</a:t>
            </a:r>
            <a:endParaRPr sz="1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777" y="1849691"/>
            <a:ext cx="10980811" cy="78623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5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1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Google Shape;127;p2"/>
          <p:cNvSpPr txBox="1"/>
          <p:nvPr/>
        </p:nvSpPr>
        <p:spPr>
          <a:xfrm>
            <a:off x="1336243" y="55953"/>
            <a:ext cx="12844452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Screenshot – Registration and Login</a:t>
            </a:r>
            <a:endParaRPr sz="1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68"/>
          <a:stretch>
            <a:fillRect/>
          </a:stretch>
        </p:blipFill>
        <p:spPr>
          <a:xfrm>
            <a:off x="1503154" y="1645920"/>
            <a:ext cx="4638675" cy="8254080"/>
          </a:xfrm>
          <a:custGeom>
            <a:avLst/>
            <a:gdLst>
              <a:gd name="connsiteX0" fmla="*/ 0 w 4638675"/>
              <a:gd name="connsiteY0" fmla="*/ 0 h 8254080"/>
              <a:gd name="connsiteX1" fmla="*/ 4638675 w 4638675"/>
              <a:gd name="connsiteY1" fmla="*/ 0 h 8254080"/>
              <a:gd name="connsiteX2" fmla="*/ 4638675 w 4638675"/>
              <a:gd name="connsiteY2" fmla="*/ 8254080 h 8254080"/>
              <a:gd name="connsiteX3" fmla="*/ 0 w 4638675"/>
              <a:gd name="connsiteY3" fmla="*/ 8254080 h 8254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8675" h="8254080">
                <a:moveTo>
                  <a:pt x="0" y="0"/>
                </a:moveTo>
                <a:lnTo>
                  <a:pt x="4638675" y="0"/>
                </a:lnTo>
                <a:lnTo>
                  <a:pt x="4638675" y="8254080"/>
                </a:lnTo>
                <a:lnTo>
                  <a:pt x="0" y="8254080"/>
                </a:lnTo>
                <a:close/>
              </a:path>
            </a:pathLst>
          </a:custGeom>
          <a:ln>
            <a:solidFill>
              <a:srgbClr val="0A7A80"/>
            </a:solidFill>
          </a:ln>
        </p:spPr>
      </p:pic>
      <p:grpSp>
        <p:nvGrpSpPr>
          <p:cNvPr id="4" name="Group 3"/>
          <p:cNvGrpSpPr/>
          <p:nvPr/>
        </p:nvGrpSpPr>
        <p:grpSpPr>
          <a:xfrm>
            <a:off x="6910466" y="1645920"/>
            <a:ext cx="10448143" cy="9227309"/>
            <a:chOff x="6910466" y="1666106"/>
            <a:chExt cx="10448143" cy="9207123"/>
          </a:xfrm>
        </p:grpSpPr>
        <p:sp>
          <p:nvSpPr>
            <p:cNvPr id="11" name="Screenshot frame"/>
            <p:cNvSpPr/>
            <p:nvPr/>
          </p:nvSpPr>
          <p:spPr>
            <a:xfrm>
              <a:off x="6910466" y="1666106"/>
              <a:ext cx="10448143" cy="825408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5DE0E6"/>
              </a:solidFill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3986" y="1881164"/>
              <a:ext cx="10321102" cy="89920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022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5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1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1" name="Screenshot frame"/>
          <p:cNvSpPr/>
          <p:nvPr/>
        </p:nvSpPr>
        <p:spPr>
          <a:xfrm>
            <a:off x="457200" y="1687188"/>
            <a:ext cx="7840056" cy="817154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002" name="Screenshot" descr="Product screen: Jacket Black, risk alert and sales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00" y="1777188"/>
            <a:ext cx="7660056" cy="7991543"/>
          </a:xfrm>
          <a:prstGeom prst="rect">
            <a:avLst/>
          </a:prstGeom>
        </p:spPr>
      </p:pic>
      <p:sp>
        <p:nvSpPr>
          <p:cNvPr id="3003" name="Screenshot frame"/>
          <p:cNvSpPr/>
          <p:nvPr/>
        </p:nvSpPr>
        <p:spPr>
          <a:xfrm>
            <a:off x="8627256" y="2034512"/>
            <a:ext cx="9203544" cy="564689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004" name="Screenshot" descr="AI explanation and prescriptive advice for Jacket Bla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7256" y="2124512"/>
            <a:ext cx="9023544" cy="5466895"/>
          </a:xfrm>
          <a:prstGeom prst="rect">
            <a:avLst/>
          </a:prstGeom>
        </p:spPr>
      </p:pic>
      <p:sp>
        <p:nvSpPr>
          <p:cNvPr id="3005" name="Caption card"/>
          <p:cNvSpPr/>
          <p:nvPr/>
        </p:nvSpPr>
        <p:spPr>
          <a:xfrm>
            <a:off x="8627256" y="8011407"/>
            <a:ext cx="9203544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wrap="square" lIns="256032" tIns="109728" rIns="219456" bIns="109728" rtlCol="0" anchor="ctr"/>
          <a:lstStyle/>
          <a:p>
            <a:pPr algn="l">
              <a:spcAft>
                <a:spcPts val="100"/>
              </a:spcAft>
            </a:pPr>
            <a:r>
              <a:rPr sz="28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Risk, reason, action</a:t>
            </a:r>
          </a:p>
          <a:p>
            <a:pPr algn="l">
              <a:spcBef>
                <a:spcPts val="800"/>
              </a:spcBef>
            </a:pPr>
            <a:r>
              <a:rPr sz="22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82% dead-stock risk, ₹38,000 locked, and a plain reason with the next step.</a:t>
            </a:r>
          </a:p>
        </p:txBody>
      </p:sp>
      <p:sp>
        <p:nvSpPr>
          <p:cNvPr id="10" name="Google Shape;127;p2"/>
          <p:cNvSpPr txBox="1"/>
          <p:nvPr/>
        </p:nvSpPr>
        <p:spPr>
          <a:xfrm>
            <a:off x="1336243" y="55953"/>
            <a:ext cx="1056594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Screenshot – Product Screen</a:t>
            </a:r>
            <a:endParaRPr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5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1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6" name="Screenshot frame"/>
          <p:cNvSpPr/>
          <p:nvPr/>
        </p:nvSpPr>
        <p:spPr>
          <a:xfrm>
            <a:off x="457200" y="1645920"/>
            <a:ext cx="7671091" cy="8254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007" name="Screenshot" descr="AI recommendations: capital at risk and action car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00" y="1735920"/>
            <a:ext cx="7491091" cy="8074080"/>
          </a:xfrm>
          <a:prstGeom prst="rect">
            <a:avLst/>
          </a:prstGeom>
        </p:spPr>
      </p:pic>
      <p:sp>
        <p:nvSpPr>
          <p:cNvPr id="3008" name="Screenshot frame"/>
          <p:cNvSpPr/>
          <p:nvPr/>
        </p:nvSpPr>
        <p:spPr>
          <a:xfrm>
            <a:off x="8458291" y="1686719"/>
            <a:ext cx="9372509" cy="8172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009" name="Screenshot" descr="More recommendations and the merchant approval princip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291" y="1776719"/>
            <a:ext cx="9192509" cy="7992482"/>
          </a:xfrm>
          <a:prstGeom prst="rect">
            <a:avLst/>
          </a:prstGeom>
        </p:spPr>
      </p:pic>
      <p:sp>
        <p:nvSpPr>
          <p:cNvPr id="9" name="Google Shape;127;p2"/>
          <p:cNvSpPr txBox="1"/>
          <p:nvPr/>
        </p:nvSpPr>
        <p:spPr>
          <a:xfrm>
            <a:off x="1336242" y="55953"/>
            <a:ext cx="13489029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Screenshot – AI Recommendations </a:t>
            </a:r>
            <a:endParaRPr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5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1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" name="Screenshot frame"/>
          <p:cNvSpPr/>
          <p:nvPr/>
        </p:nvSpPr>
        <p:spPr>
          <a:xfrm>
            <a:off x="457200" y="1645920"/>
            <a:ext cx="7252151" cy="8254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011" name="Screenshot" descr="Inventory management dashboard with risk status and ac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00" y="1735920"/>
            <a:ext cx="7072151" cy="8074080"/>
          </a:xfrm>
          <a:prstGeom prst="rect">
            <a:avLst/>
          </a:prstGeom>
        </p:spPr>
      </p:pic>
      <p:sp>
        <p:nvSpPr>
          <p:cNvPr id="3012" name="Caption card"/>
          <p:cNvSpPr/>
          <p:nvPr/>
        </p:nvSpPr>
        <p:spPr>
          <a:xfrm>
            <a:off x="8039351" y="1645920"/>
            <a:ext cx="9791449" cy="25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wrap="square" lIns="256032" tIns="109728" rIns="219456" bIns="109728" rtlCol="0" anchor="ctr"/>
          <a:lstStyle/>
          <a:p>
            <a:pPr algn="l">
              <a:spcAft>
                <a:spcPts val="100"/>
              </a:spcAft>
            </a:pPr>
            <a:r>
              <a:rPr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₹4,85,000 in stock</a:t>
            </a:r>
          </a:p>
          <a:p>
            <a:pPr algn="l">
              <a:spcBef>
                <a:spcPts val="800"/>
              </a:spcBef>
            </a:pPr>
            <a:r>
              <a:rPr sz="24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412 products tracked. 88% of the money is in healthy stock.</a:t>
            </a:r>
          </a:p>
        </p:txBody>
      </p:sp>
      <p:sp>
        <p:nvSpPr>
          <p:cNvPr id="3013" name="Caption card"/>
          <p:cNvSpPr/>
          <p:nvPr/>
        </p:nvSpPr>
        <p:spPr>
          <a:xfrm>
            <a:off x="8039351" y="4507280"/>
            <a:ext cx="9791449" cy="25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wrap="square" lIns="256032" tIns="109728" rIns="219456" bIns="109728" rtlCol="0" anchor="ctr"/>
          <a:lstStyle/>
          <a:p>
            <a:pPr algn="l">
              <a:spcAft>
                <a:spcPts val="100"/>
              </a:spcAft>
            </a:pPr>
            <a:r>
              <a:rPr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₹38,000 is dead stock</a:t>
            </a:r>
          </a:p>
          <a:p>
            <a:pPr algn="l">
              <a:spcBef>
                <a:spcPts val="800"/>
              </a:spcBef>
            </a:pPr>
            <a:r>
              <a:rPr sz="24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Winter Jacket is 63 days old. The screen says: discount 15%.</a:t>
            </a:r>
          </a:p>
        </p:txBody>
      </p:sp>
      <p:sp>
        <p:nvSpPr>
          <p:cNvPr id="3014" name="Caption card"/>
          <p:cNvSpPr/>
          <p:nvPr/>
        </p:nvSpPr>
        <p:spPr>
          <a:xfrm>
            <a:off x="8039351" y="7368640"/>
            <a:ext cx="9791449" cy="25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wrap="square" lIns="256032" tIns="109728" rIns="219456" bIns="109728" rtlCol="0" anchor="ctr"/>
          <a:lstStyle/>
          <a:p>
            <a:pPr algn="l">
              <a:spcAft>
                <a:spcPts val="100"/>
              </a:spcAft>
            </a:pPr>
            <a:r>
              <a:rPr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product runs out soon</a:t>
            </a:r>
          </a:p>
          <a:p>
            <a:pPr algn="l">
              <a:spcBef>
                <a:spcPts val="800"/>
              </a:spcBef>
            </a:pPr>
            <a:r>
              <a:rPr sz="24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Sports Shoes: 8 units left, about 5 days. Reorder button ready.</a:t>
            </a:r>
          </a:p>
        </p:txBody>
      </p:sp>
      <p:sp>
        <p:nvSpPr>
          <p:cNvPr id="10" name="Google Shape;127;p2"/>
          <p:cNvSpPr txBox="1"/>
          <p:nvPr/>
        </p:nvSpPr>
        <p:spPr>
          <a:xfrm>
            <a:off x="1336243" y="55953"/>
            <a:ext cx="12844452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Screenshot – Inventory Dashboard</a:t>
            </a:r>
            <a:endParaRPr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5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1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Google Shape;127;p2"/>
          <p:cNvSpPr txBox="1"/>
          <p:nvPr/>
        </p:nvSpPr>
        <p:spPr>
          <a:xfrm>
            <a:off x="1336243" y="55953"/>
            <a:ext cx="12844452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Screenshot – Sales</a:t>
            </a:r>
            <a:endParaRPr sz="1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r="7688"/>
          <a:stretch/>
        </p:blipFill>
        <p:spPr>
          <a:xfrm>
            <a:off x="1072406" y="1675475"/>
            <a:ext cx="10171986" cy="6230922"/>
          </a:xfrm>
          <a:prstGeom prst="rect">
            <a:avLst/>
          </a:prstGeom>
        </p:spPr>
      </p:pic>
      <p:sp>
        <p:nvSpPr>
          <p:cNvPr id="11" name="Caption card"/>
          <p:cNvSpPr/>
          <p:nvPr/>
        </p:nvSpPr>
        <p:spPr>
          <a:xfrm>
            <a:off x="12014507" y="1274749"/>
            <a:ext cx="5503378" cy="20380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wrap="square" lIns="256032" tIns="109728" rIns="219456" bIns="109728" rtlCol="0" anchor="ctr"/>
          <a:lstStyle/>
          <a:p>
            <a:pPr>
              <a:spcAft>
                <a:spcPts val="100"/>
              </a:spcAft>
            </a:pP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₹1,85,400 in monthly </a:t>
            </a:r>
            <a:r>
              <a:rPr lang="en-US" sz="3000" b="1" dirty="0" smtClean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>
              <a:spcAft>
                <a:spcPts val="100"/>
              </a:spcAft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currently 14.2% above target, showing strong overall performance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Caption card"/>
          <p:cNvSpPr/>
          <p:nvPr/>
        </p:nvSpPr>
        <p:spPr>
          <a:xfrm>
            <a:off x="12014507" y="3665680"/>
            <a:ext cx="5503378" cy="18437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wrap="square" lIns="256032" tIns="109728" rIns="219456" bIns="109728" rtlCol="0" anchor="ctr"/>
          <a:lstStyle/>
          <a:p>
            <a:pPr>
              <a:spcAft>
                <a:spcPts val="100"/>
              </a:spcAft>
            </a:pPr>
            <a:r>
              <a:rPr lang="en-US" sz="3000" b="1" dirty="0" smtClean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</a:t>
            </a: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56,200 estimated </a:t>
            </a:r>
            <a:r>
              <a:rPr lang="en-US" sz="3000" b="1" dirty="0" smtClean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>
              <a:spcAft>
                <a:spcPts val="100"/>
              </a:spcAft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is operating at approximately a 30.3% profit margin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Caption card"/>
          <p:cNvSpPr/>
          <p:nvPr/>
        </p:nvSpPr>
        <p:spPr>
          <a:xfrm>
            <a:off x="12014507" y="5862324"/>
            <a:ext cx="5503378" cy="26670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wrap="square" lIns="256032" tIns="109728" rIns="219456" bIns="109728" rtlCol="0" anchor="ctr"/>
          <a:lstStyle/>
          <a:p>
            <a:pPr lvl="0">
              <a:spcAft>
                <a:spcPts val="100"/>
              </a:spcAft>
            </a:pPr>
            <a:r>
              <a:rPr lang="en-US" sz="3000" b="1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Sports Shoes are selling fastest</a:t>
            </a:r>
          </a:p>
          <a:p>
            <a:pPr lvl="0">
              <a:spcAft>
                <a:spcPts val="1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SH-102 is selling at about 5 units per day and may run out by Friday. Consider reordering soon.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88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159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6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9" name="Rounded Rectangle 1048648"/>
          <p:cNvSpPr/>
          <p:nvPr/>
        </p:nvSpPr>
        <p:spPr>
          <a:xfrm>
            <a:off x="944380" y="1556729"/>
            <a:ext cx="16474189" cy="8138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19456" bIns="109728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2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demo flow</a:t>
            </a:r>
          </a:p>
          <a:p>
            <a:pPr algn="l">
              <a:spcBef>
                <a:spcPts val="12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Merchant opens the dashboard. ₹42,000 of risky inventory is detected.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explains why, and suggests a discount or a stop on reorder.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product is predicted to stock out. AI recommends 40 units.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Merchant approves the supplier order. Cash flow updates.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2600" b="1" dirty="0">
                <a:solidFill>
                  <a:srgbClr val="0049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more sales, less dead stock, less wasted cash, fewer stockouts, less manual work, better decisions.</a:t>
            </a:r>
          </a:p>
        </p:txBody>
      </p:sp>
      <p:sp>
        <p:nvSpPr>
          <p:cNvPr id="7" name="Google Shape;127;p2"/>
          <p:cNvSpPr txBox="1"/>
          <p:nvPr/>
        </p:nvSpPr>
        <p:spPr>
          <a:xfrm>
            <a:off x="1336243" y="55953"/>
            <a:ext cx="12844452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Final Demo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099203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159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6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649" name="Rounded Rectangle 1048648"/>
          <p:cNvSpPr/>
          <p:nvPr/>
        </p:nvSpPr>
        <p:spPr>
          <a:xfrm>
            <a:off x="944380" y="1556729"/>
            <a:ext cx="16474189" cy="8138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19456" bIns="109728" rtlCol="0" anchor="ctr"/>
          <a:lstStyle/>
          <a:p>
            <a:pPr algn="ctr">
              <a:spcAft>
                <a:spcPts val="100"/>
              </a:spcAft>
            </a:pPr>
            <a:r>
              <a:rPr lang="en-IN" sz="3200" dirty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</a:t>
            </a:r>
            <a:r>
              <a:rPr lang="en-IN" sz="3200" dirty="0" smtClean="0">
                <a:solidFill>
                  <a:srgbClr val="0A7A8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github.com/aryansingh7877/mercula-Ai</a:t>
            </a:r>
            <a:endParaRPr sz="2600" b="1" dirty="0">
              <a:solidFill>
                <a:srgbClr val="0A7A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27;p2"/>
          <p:cNvSpPr txBox="1"/>
          <p:nvPr/>
        </p:nvSpPr>
        <p:spPr>
          <a:xfrm>
            <a:off x="1336243" y="55953"/>
            <a:ext cx="12844452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err="1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Github</a:t>
            </a:r>
            <a:r>
              <a:rPr lang="en-US" sz="6600" dirty="0" smtClean="0">
                <a:solidFill>
                  <a:srgbClr val="5DE0E6"/>
                </a:solidFill>
                <a:latin typeface="Times"/>
                <a:cs typeface="Times"/>
                <a:sym typeface="Times"/>
              </a:rPr>
              <a:t> Repo Link</a:t>
            </a:r>
            <a:endParaRPr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1101</Words>
  <Application>Microsoft Office PowerPoint</Application>
  <PresentationFormat>Custom</PresentationFormat>
  <Paragraphs>127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Times</vt:lpstr>
      <vt:lpstr>Calibri</vt:lpstr>
      <vt:lpstr>Times New Roman</vt:lpstr>
      <vt:lpstr>Arial</vt:lpstr>
      <vt:lpstr>Playfair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A059</dc:creator>
  <cp:lastModifiedBy>Abhishek_Anil</cp:lastModifiedBy>
  <cp:revision>17</cp:revision>
  <dcterms:created xsi:type="dcterms:W3CDTF">2006-08-15T13:00:00Z</dcterms:created>
  <dcterms:modified xsi:type="dcterms:W3CDTF">2026-10-05T17:56:11Z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5900b99dccfa45e59aad85835f567da1_23</vt:lpwstr>
  </property>
</Properties>
</file>